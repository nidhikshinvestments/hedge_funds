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8" r:id="rId2"/>
    <p:sldId id="259" r:id="rId3"/>
    <p:sldId id="265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10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18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115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Choose Nidhiksh?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09744" y="1115568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" y="2962656"/>
            <a:ext cx="2011680" cy="1938528"/>
          </a:xfrm>
          <a:prstGeom prst="rect">
            <a:avLst/>
          </a:prstGeom>
          <a:solidFill>
            <a:srgbClr val="14203E"/>
          </a:solidFill>
          <a:ln w="5080">
            <a:solidFill>
              <a:srgbClr val="243054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02336" y="2962656"/>
            <a:ext cx="201168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090672"/>
            <a:ext cx="402336" cy="40233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12064" y="358444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Growth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12064" y="3950208"/>
            <a:ext cx="17922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A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success drives every decision we make with investor’s interest in focus. Target high yield return. 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578608" y="2962656"/>
            <a:ext cx="2011680" cy="1938528"/>
          </a:xfrm>
          <a:prstGeom prst="rect">
            <a:avLst/>
          </a:prstGeom>
          <a:solidFill>
            <a:srgbClr val="14203E"/>
          </a:solidFill>
          <a:ln w="5080">
            <a:solidFill>
              <a:srgbClr val="243054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578608" y="2962656"/>
            <a:ext cx="201168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090672"/>
            <a:ext cx="402336" cy="40233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688336" y="358444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 &amp; Honesty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2688336" y="3950208"/>
            <a:ext cx="17922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A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Unwavering professional conduct at all times. 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754880" y="2962656"/>
            <a:ext cx="2011680" cy="1938528"/>
          </a:xfrm>
          <a:prstGeom prst="rect">
            <a:avLst/>
          </a:prstGeom>
          <a:solidFill>
            <a:srgbClr val="14203E"/>
          </a:solidFill>
          <a:ln w="5080">
            <a:solidFill>
              <a:srgbClr val="243054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4754880" y="2962656"/>
            <a:ext cx="201168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8112" y="3090672"/>
            <a:ext cx="402336" cy="40233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864608" y="358444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Success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4864608" y="3950208"/>
            <a:ext cx="17922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A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profit only when our investors profit.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931152" y="2962656"/>
            <a:ext cx="2011680" cy="1938528"/>
          </a:xfrm>
          <a:prstGeom prst="rect">
            <a:avLst/>
          </a:prstGeom>
          <a:solidFill>
            <a:srgbClr val="14203E"/>
          </a:solidFill>
          <a:ln w="5080">
            <a:solidFill>
              <a:srgbClr val="243054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6931152" y="2962656"/>
            <a:ext cx="201168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4384" y="3090672"/>
            <a:ext cx="402336" cy="40233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040880" y="358444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Preservation</a:t>
            </a:r>
            <a:b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7040880" y="3950208"/>
            <a:ext cx="17922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A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downside, capture the upside, pass wealth to next generation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" y="0"/>
            <a:ext cx="9144000" cy="1078992"/>
          </a:xfrm>
          <a:prstGeom prst="rect">
            <a:avLst/>
          </a:prstGeom>
          <a:solidFill>
            <a:srgbClr val="10193A"/>
          </a:solidFill>
          <a:ln w="12700">
            <a:solidFill>
              <a:srgbClr val="101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Core Value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1078992"/>
            <a:ext cx="914400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02336" y="1316736"/>
            <a:ext cx="91440" cy="76809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38988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Nidhiksh, we believe that true wealth creation starts with the preservation of what you have already earned. Our dual mandate is simple yet powerful: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2336" y="2267712"/>
            <a:ext cx="1993392" cy="2578608"/>
          </a:xfrm>
          <a:prstGeom prst="rect">
            <a:avLst/>
          </a:prstGeom>
          <a:solidFill>
            <a:srgbClr val="FFFFFF"/>
          </a:solidFill>
          <a:ln w="5080">
            <a:solidFill>
              <a:srgbClr val="E0D8C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2336" y="2267712"/>
            <a:ext cx="1993392" cy="658368"/>
          </a:xfrm>
          <a:prstGeom prst="rect">
            <a:avLst/>
          </a:prstGeom>
          <a:solidFill>
            <a:srgbClr val="10193A"/>
          </a:solidFill>
          <a:ln w="12700">
            <a:solidFill>
              <a:srgbClr val="101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2322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088" y="2377440"/>
            <a:ext cx="384048" cy="38404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12064" y="3017520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as Cornerstone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12064" y="3456432"/>
            <a:ext cx="177393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partnership built on consistent action and unwavering integrity. Investor confidence is earned, not assumed.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542032" y="2267712"/>
            <a:ext cx="1993392" cy="2578608"/>
          </a:xfrm>
          <a:prstGeom prst="rect">
            <a:avLst/>
          </a:prstGeom>
          <a:solidFill>
            <a:srgbClr val="FFFFFF"/>
          </a:solidFill>
          <a:ln w="5080">
            <a:solidFill>
              <a:srgbClr val="E0D8C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542032" y="2267712"/>
            <a:ext cx="1993392" cy="658368"/>
          </a:xfrm>
          <a:prstGeom prst="rect">
            <a:avLst/>
          </a:prstGeom>
          <a:solidFill>
            <a:srgbClr val="10193A"/>
          </a:solidFill>
          <a:ln w="12700">
            <a:solidFill>
              <a:srgbClr val="101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670048" y="2322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6784" y="2377440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651760" y="3017520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Growth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2651760" y="3456432"/>
            <a:ext cx="177393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partnerships over short-term gains. We create a legacy of shared financial success across generations.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681728" y="2267712"/>
            <a:ext cx="1993392" cy="2578608"/>
          </a:xfrm>
          <a:prstGeom prst="rect">
            <a:avLst/>
          </a:prstGeom>
          <a:solidFill>
            <a:srgbClr val="FFFFFF"/>
          </a:solidFill>
          <a:ln w="5080">
            <a:solidFill>
              <a:srgbClr val="E0D8C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4681728" y="2267712"/>
            <a:ext cx="1993392" cy="658368"/>
          </a:xfrm>
          <a:prstGeom prst="rect">
            <a:avLst/>
          </a:prstGeom>
          <a:solidFill>
            <a:srgbClr val="10193A"/>
          </a:solidFill>
          <a:ln w="12700">
            <a:solidFill>
              <a:srgbClr val="101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4809744" y="2322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2377440"/>
            <a:ext cx="384048" cy="38404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791456" y="3017520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Accountability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4791456" y="3456432"/>
            <a:ext cx="177393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interests remain at the forefront of every strategic decision. We take full ownership of our strategies.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821424" y="2267712"/>
            <a:ext cx="1993392" cy="2578608"/>
          </a:xfrm>
          <a:prstGeom prst="rect">
            <a:avLst/>
          </a:prstGeom>
          <a:solidFill>
            <a:srgbClr val="FFFFFF"/>
          </a:solidFill>
          <a:ln w="5080">
            <a:solidFill>
              <a:srgbClr val="E0D8C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6821424" y="2267712"/>
            <a:ext cx="1993392" cy="658368"/>
          </a:xfrm>
          <a:prstGeom prst="rect">
            <a:avLst/>
          </a:prstGeom>
          <a:solidFill>
            <a:srgbClr val="10193A"/>
          </a:solidFill>
          <a:ln w="12700">
            <a:solidFill>
              <a:srgbClr val="101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6949440" y="2322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6176" y="2377440"/>
            <a:ext cx="384048" cy="38404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931152" y="3017520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 First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6931152" y="3456432"/>
            <a:ext cx="177393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ethics and honesty, we uphold the highest standards of professional conduct in everything we do.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0193A"/>
          </a:solidFill>
          <a:ln w="12700">
            <a:solidFill>
              <a:srgbClr val="101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 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D9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Seamless Onboarding — A Disciplined 5-Step Approach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78992"/>
            <a:ext cx="914400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1792" y="2231136"/>
            <a:ext cx="7534656" cy="54864"/>
          </a:xfrm>
          <a:prstGeom prst="rect">
            <a:avLst/>
          </a:prstGeom>
          <a:solidFill>
            <a:srgbClr val="B8972B">
              <a:alpha val="40000"/>
            </a:srgbClr>
          </a:solidFill>
          <a:ln w="12700">
            <a:solidFill>
              <a:srgbClr val="B8972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21792" y="1737360"/>
            <a:ext cx="987552" cy="987552"/>
          </a:xfrm>
          <a:prstGeom prst="ellipse">
            <a:avLst/>
          </a:prstGeom>
          <a:solidFill>
            <a:srgbClr val="B8972B"/>
          </a:solidFill>
          <a:ln w="12700">
            <a:solidFill>
              <a:srgbClr val="B8972B"/>
            </a:solidFill>
            <a:prstDash val="solid"/>
          </a:ln>
          <a:effectLst>
            <a:outerShdw blurRad="177800" dist="50800" dir="8100000" algn="bl" rotWithShape="0">
              <a:srgbClr val="B8972B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901952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" y="268833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12064" y="2944368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0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Fit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12064" y="3511296"/>
            <a:ext cx="1664208" cy="1243584"/>
          </a:xfrm>
          <a:prstGeom prst="rect">
            <a:avLst/>
          </a:prstGeom>
          <a:solidFill>
            <a:srgbClr val="FFFFFF"/>
          </a:solidFill>
          <a:ln w="5080">
            <a:solidFill>
              <a:srgbClr val="E0D8C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12064" y="3511296"/>
            <a:ext cx="1664208" cy="54864"/>
          </a:xfrm>
          <a:prstGeom prst="rect">
            <a:avLst/>
          </a:prstGeom>
          <a:solidFill>
            <a:srgbClr val="B8972B"/>
          </a:solidFill>
          <a:ln w="12700">
            <a:solidFill>
              <a:srgbClr val="B8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85216" y="3621024"/>
            <a:ext cx="151790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consultation to assess investor suitability, financial goals, and strategy alignment.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432304" y="1737360"/>
            <a:ext cx="987552" cy="987552"/>
          </a:xfrm>
          <a:prstGeom prst="ellipse">
            <a:avLst/>
          </a:prstGeom>
          <a:solidFill>
            <a:srgbClr val="B8972B"/>
          </a:solidFill>
          <a:ln w="12700">
            <a:solidFill>
              <a:srgbClr val="B8972B"/>
            </a:solidFill>
            <a:prstDash val="solid"/>
          </a:ln>
          <a:effectLst>
            <a:outerShdw blurRad="177800" dist="50800" dir="8100000" algn="bl" rotWithShape="0">
              <a:srgbClr val="B8972B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8336" y="1901952"/>
            <a:ext cx="475488" cy="4754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340864" y="268833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322576" y="2944368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0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Diligence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322576" y="3511296"/>
            <a:ext cx="1664208" cy="1243584"/>
          </a:xfrm>
          <a:prstGeom prst="rect">
            <a:avLst/>
          </a:prstGeom>
          <a:solidFill>
            <a:srgbClr val="FFFFFF"/>
          </a:solidFill>
          <a:ln w="5080">
            <a:solidFill>
              <a:srgbClr val="E0D8C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322576" y="3511296"/>
            <a:ext cx="1664208" cy="54864"/>
          </a:xfrm>
          <a:prstGeom prst="rect">
            <a:avLst/>
          </a:prstGeom>
          <a:solidFill>
            <a:srgbClr val="B8972B"/>
          </a:solidFill>
          <a:ln w="12700">
            <a:solidFill>
              <a:srgbClr val="B8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2395728" y="3621024"/>
            <a:ext cx="151790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offering documents and execute legal agreements under Reg D, 506(C).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242816" y="1737360"/>
            <a:ext cx="987552" cy="987552"/>
          </a:xfrm>
          <a:prstGeom prst="ellipse">
            <a:avLst/>
          </a:prstGeom>
          <a:solidFill>
            <a:srgbClr val="B8972B"/>
          </a:solidFill>
          <a:ln w="12700">
            <a:solidFill>
              <a:srgbClr val="B8972B"/>
            </a:solidFill>
            <a:prstDash val="solid"/>
          </a:ln>
          <a:effectLst>
            <a:outerShdw blurRad="177800" dist="50800" dir="8100000" algn="bl" rotWithShape="0">
              <a:srgbClr val="B8972B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1901952"/>
            <a:ext cx="475488" cy="4754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151376" y="268833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133088" y="2944368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Funding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133088" y="3511296"/>
            <a:ext cx="1664208" cy="1243584"/>
          </a:xfrm>
          <a:prstGeom prst="rect">
            <a:avLst/>
          </a:prstGeom>
          <a:solidFill>
            <a:srgbClr val="FFFFFF"/>
          </a:solidFill>
          <a:ln w="5080">
            <a:solidFill>
              <a:srgbClr val="E0D8C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133088" y="3511296"/>
            <a:ext cx="1664208" cy="54864"/>
          </a:xfrm>
          <a:prstGeom prst="rect">
            <a:avLst/>
          </a:prstGeom>
          <a:solidFill>
            <a:srgbClr val="B8972B"/>
          </a:solidFill>
          <a:ln w="12700">
            <a:solidFill>
              <a:srgbClr val="B8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4206240" y="3621024"/>
            <a:ext cx="151790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capital contribution process and gain access to your secure Investor Portal.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053328" y="1737360"/>
            <a:ext cx="987552" cy="987552"/>
          </a:xfrm>
          <a:prstGeom prst="ellipse">
            <a:avLst/>
          </a:prstGeom>
          <a:solidFill>
            <a:srgbClr val="B8972B"/>
          </a:solidFill>
          <a:ln w="12700">
            <a:solidFill>
              <a:srgbClr val="B8972B"/>
            </a:solidFill>
            <a:prstDash val="solid"/>
          </a:ln>
          <a:effectLst>
            <a:outerShdw blurRad="177800" dist="50800" dir="8100000" algn="bl" rotWithShape="0">
              <a:srgbClr val="B8972B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1901952"/>
            <a:ext cx="475488" cy="4754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961888" y="268833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943600" y="2944368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0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5943600" y="3511296"/>
            <a:ext cx="1664208" cy="1243584"/>
          </a:xfrm>
          <a:prstGeom prst="rect">
            <a:avLst/>
          </a:prstGeom>
          <a:solidFill>
            <a:srgbClr val="FFFFFF"/>
          </a:solidFill>
          <a:ln w="5080">
            <a:solidFill>
              <a:srgbClr val="E0D8C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5943600" y="3511296"/>
            <a:ext cx="1664208" cy="54864"/>
          </a:xfrm>
          <a:prstGeom prst="rect">
            <a:avLst/>
          </a:prstGeom>
          <a:solidFill>
            <a:srgbClr val="B8972B"/>
          </a:solidFill>
          <a:ln w="12700">
            <a:solidFill>
              <a:srgbClr val="B8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6016752" y="3621024"/>
            <a:ext cx="151790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capital deployment with rigorous risk controls and asset allocation.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0" y="1737360"/>
            <a:ext cx="987552" cy="987552"/>
          </a:xfrm>
          <a:prstGeom prst="ellipse">
            <a:avLst/>
          </a:prstGeom>
          <a:solidFill>
            <a:srgbClr val="B8972B"/>
          </a:solidFill>
          <a:ln w="12700">
            <a:solidFill>
              <a:srgbClr val="B8972B"/>
            </a:solidFill>
            <a:prstDash val="solid"/>
          </a:ln>
          <a:effectLst>
            <a:outerShdw blurRad="177800" dist="50800" dir="8100000" algn="bl" rotWithShape="0">
              <a:srgbClr val="B8972B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872" y="1901952"/>
            <a:ext cx="475488" cy="47548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772400" y="268833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7754112" y="2944368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7754112" y="3511296"/>
            <a:ext cx="1664208" cy="1243584"/>
          </a:xfrm>
          <a:prstGeom prst="rect">
            <a:avLst/>
          </a:prstGeom>
          <a:solidFill>
            <a:srgbClr val="FFFFFF"/>
          </a:solidFill>
          <a:ln w="5080">
            <a:solidFill>
              <a:srgbClr val="E0D8C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7754112" y="3511296"/>
            <a:ext cx="1664208" cy="54864"/>
          </a:xfrm>
          <a:prstGeom prst="rect">
            <a:avLst/>
          </a:prstGeom>
          <a:solidFill>
            <a:srgbClr val="B8972B"/>
          </a:solidFill>
          <a:ln w="12700">
            <a:solidFill>
              <a:srgbClr val="B89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7827264" y="3621024"/>
            <a:ext cx="151790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ongoing performance updates, financial reports, and profit distributions.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270</Words>
  <Application>Microsoft Macintosh PowerPoint</Application>
  <PresentationFormat>On-screen Show (16:9)</PresentationFormat>
  <Paragraphs>47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Nidhiksh Investments — Anchor Investor Presentation 2026</dc:title>
  <dc:subject>PptxGenJS Presentation</dc:subject>
  <dc:creator>PptxGenJS</dc:creator>
  <cp:lastModifiedBy>Nidhiksh Investments</cp:lastModifiedBy>
  <cp:revision>13</cp:revision>
  <dcterms:created xsi:type="dcterms:W3CDTF">2026-04-09T19:20:04Z</dcterms:created>
  <dcterms:modified xsi:type="dcterms:W3CDTF">2026-04-24T16:01:07Z</dcterms:modified>
</cp:coreProperties>
</file>